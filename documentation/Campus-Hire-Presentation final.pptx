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1" d="100"/>
          <a:sy n="121" d="100"/>
        </p:scale>
        <p:origin x="346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9968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64008" cy="508863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Campus-Hire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320040" y="22860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8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Internship &amp; Placement Portal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297180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2962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MongoDB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36776" y="297180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636776" y="2962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Express.js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53512" y="297180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953512" y="2962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React 18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70248" y="297180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270248" y="2962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Node.js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86984" y="2971800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4A7FA5"/>
          </a:solidFill>
          <a:ln w="12700">
            <a:solidFill>
              <a:srgbClr val="4A7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586984" y="2962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Render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3291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8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MERN stack web portal connecting students, recruiters, and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8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administrators on a single campus.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32320" y="365760"/>
            <a:ext cx="2560320" cy="2560320"/>
          </a:xfrm>
          <a:prstGeom prst="ellipse">
            <a:avLst/>
          </a:prstGeom>
          <a:solidFill>
            <a:srgbClr val="1C7293">
              <a:alpha val="25000"/>
            </a:srgbClr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7772400" y="2011680"/>
            <a:ext cx="1645920" cy="164592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41F2E"/>
          </a:solidFill>
          <a:ln w="12700">
            <a:solidFill>
              <a:srgbClr val="041F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0" y="3931920"/>
            <a:ext cx="91440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" y="4041648"/>
            <a:ext cx="914400" cy="320040"/>
          </a:xfrm>
          <a:prstGeom prst="roundRect">
            <a:avLst>
              <a:gd name="adj" fmla="val 28571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" y="404164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GROUP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71600" y="4041648"/>
            <a:ext cx="7452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u="sng" dirty="0">
                <a:solidFill>
                  <a:srgbClr val="74B9FF"/>
                </a:solidFill>
              </a:rPr>
              <a:t>🌐  https://campus-hire-1.onrender.com</a:t>
            </a:r>
            <a:r>
              <a:rPr lang="en-US" sz="1300" dirty="0">
                <a:solidFill>
                  <a:srgbClr val="4A7FA5"/>
                </a:solidFill>
              </a:rPr>
              <a:t>        </a:t>
            </a:r>
            <a:r>
              <a:rPr lang="en-US" sz="1300" b="1" u="sng" dirty="0">
                <a:solidFill>
                  <a:srgbClr val="74B9FF"/>
                </a:solidFill>
              </a:rPr>
              <a:t>⌥  https://github.com/Adityasingh194/campus_hire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4434840"/>
            <a:ext cx="8503920" cy="0"/>
          </a:xfrm>
          <a:prstGeom prst="line">
            <a:avLst/>
          </a:prstGeom>
          <a:noFill/>
          <a:ln w="9525">
            <a:solidFill>
              <a:srgbClr val="1A3A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0040" y="4498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0EAF8"/>
                </a:solidFill>
              </a:rPr>
              <a:t>Aditya Kumar Singh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" y="4773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23JE0050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68880" y="4498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0EAF8"/>
                </a:solidFill>
              </a:rPr>
              <a:t>Aditya Vikram Chaudhary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68880" y="4773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23JE0056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17720" y="4498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0EAF8"/>
                </a:solidFill>
              </a:rPr>
              <a:t>Agrawal Dhruv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17720" y="4773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23JE0060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44988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0EAF8"/>
                </a:solidFill>
              </a:rPr>
              <a:t>Allimalli Teja Venkata Durga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66560" y="47731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23JE0077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8229600" cy="274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blurRad="101600" dist="25400" dir="8100000" algn="bl" rotWithShape="0">
              <a:srgbClr val="065A82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3840480" cy="4114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Placement processes managed over email and spreadsheets</a:t>
            </a:r>
            <a:endParaRPr lang="en-US" sz="1200" dirty="0"/>
          </a:p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No single platform connecting students, recruiters, and TPO</a:t>
            </a:r>
            <a:endParaRPr lang="en-US" sz="1200" dirty="0"/>
          </a:p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No real-time visibility into application status</a:t>
            </a:r>
            <a:endParaRPr lang="en-US" sz="1200" dirty="0"/>
          </a:p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Company approvals handled manually with no audit trail</a:t>
            </a:r>
            <a:endParaRPr lang="en-US" sz="1200" dirty="0"/>
          </a:p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Students have no way to track where their applications stand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005840"/>
            <a:ext cx="4297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blurRad="101600" dist="25400" dir="8100000" algn="bl" rotWithShape="0">
              <a:srgbClr val="065A82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434840" y="1005840"/>
            <a:ext cx="4297680" cy="4114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434840" y="10058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OUR SOLUTION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17720" y="155448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Single web portal for all three roles on one campus</a:t>
            </a:r>
            <a:endParaRPr lang="en-US" sz="1200" dirty="0"/>
          </a:p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JWT-secured role-based dashboards per user type</a:t>
            </a:r>
            <a:endParaRPr lang="en-US" sz="1200" dirty="0"/>
          </a:p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Real-time application tracking with status updates</a:t>
            </a:r>
            <a:endParaRPr lang="en-US" sz="1200" dirty="0"/>
          </a:p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Admin-controlled company approval workflow</a:t>
            </a:r>
            <a:endParaRPr lang="en-US" sz="1200" dirty="0"/>
          </a:p>
          <a:p>
            <a:pPr marL="0" indent="0">
              <a:lnSpc>
                <a:spcPct val="140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Deployed on Render with MongoDB Atlas cloud database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User Roles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EF"/>
                </a:solidFill>
              </a:rPr>
              <a:t>Each role has a dedicated dashboard and RBAC-enforced API access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743200" cy="3566160"/>
          </a:xfrm>
          <a:prstGeom prst="rect">
            <a:avLst/>
          </a:prstGeom>
          <a:solidFill>
            <a:srgbClr val="0D3D57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743200" cy="5029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STUDENT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17320" y="1874520"/>
            <a:ext cx="640080" cy="640080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apply to jobs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application status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profile &amp; resume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 resume (5 MB)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743200" cy="3566160"/>
          </a:xfrm>
          <a:prstGeom prst="rect">
            <a:avLst/>
          </a:prstGeom>
          <a:solidFill>
            <a:srgbClr val="0D3D57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743200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4612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RECRUITER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874520"/>
            <a:ext cx="640080" cy="64008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83280" y="265176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company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job openings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shortlist applicants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Recharts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234440"/>
            <a:ext cx="2743200" cy="3566160"/>
          </a:xfrm>
          <a:prstGeom prst="rect">
            <a:avLst/>
          </a:prstGeom>
          <a:solidFill>
            <a:srgbClr val="0D3D57"/>
          </a:solidFill>
          <a:ln w="1905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743200" cy="50292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12648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ADMIN (TPO)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78040" y="1874520"/>
            <a:ext cx="640080" cy="640080"/>
          </a:xfrm>
          <a:prstGeom prst="ellipse">
            <a:avLst/>
          </a:prstGeom>
          <a:solidFill>
            <a:srgbClr val="E8A838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63640" y="265176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 companies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all users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applications</a:t>
            </a:r>
            <a:endParaRPr lang="en-US" sz="11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0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statistics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FA5"/>
                </a:solidFill>
              </a:rPr>
              <a:t>All routes protected by verifyToken middleware + role guard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8229600" cy="274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blurRad="101600" dist="25400" dir="8100000" algn="bl" rotWithShape="0">
              <a:srgbClr val="065A82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560320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PRESENTATION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</a:rPr>
              <a:t>React 18 + Vite SPA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4A7FA5"/>
                </a:solidFill>
              </a:rPr>
              <a:t>React Router v7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4A7FA5"/>
                </a:solidFill>
              </a:rPr>
              <a:t>Tailwind CSS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4A7FA5"/>
                </a:solidFill>
              </a:rPr>
              <a:t>Axios + Recharts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Render Static Site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05156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blurRad="101600" dist="25400" dir="8100000" algn="bl" rotWithShape="0">
              <a:srgbClr val="065A82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337560" y="1051560"/>
            <a:ext cx="256032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37560" y="1051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APPLICATION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</a:rPr>
              <a:t>Node.js + Express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20574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4A7FA5"/>
                </a:solidFill>
              </a:rPr>
              <a:t>JWT Middleware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4A7FA5"/>
                </a:solidFill>
              </a:rPr>
              <a:t>Multer · Morgan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4A7FA5"/>
                </a:solidFill>
              </a:rPr>
              <a:t>CORS · dotenv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0440" y="3246120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520440" y="3246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Render Web Service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9360" y="1051560"/>
            <a:ext cx="25603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AF5"/>
            </a:solidFill>
            <a:prstDash val="solid"/>
          </a:ln>
          <a:effectLst>
            <a:outerShdw blurRad="101600" dist="25400" dir="8100000" algn="bl" rotWithShape="0">
              <a:srgbClr val="065A82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309360" y="1051560"/>
            <a:ext cx="2560320" cy="4572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09360" y="1051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1645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</a:rPr>
              <a:t>MongoDB Atlas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20574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4A7FA5"/>
                </a:solidFill>
              </a:rPr>
              <a:t>Mongoose ODM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4A7FA5"/>
                </a:solidFill>
              </a:rPr>
              <a:t>bcryptjs · JWT</a:t>
            </a:r>
            <a:endParaRPr lang="en-US" sz="11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4A7FA5"/>
                </a:solidFill>
              </a:rPr>
              <a:t>4 Collections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3246120"/>
            <a:ext cx="2194560" cy="256032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92240" y="3246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AWS ap-south-1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71800" y="2697480"/>
            <a:ext cx="3657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ysDot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560320" y="2487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7FA5"/>
                </a:solidFill>
              </a:rPr>
              <a:t>HTTPS + JWT Bearer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943600" y="2697480"/>
            <a:ext cx="3657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ysDot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532120" y="2487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7FA5"/>
                </a:solidFill>
              </a:rPr>
              <a:t>MongoDB Driver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" y="4480560"/>
            <a:ext cx="8412480" cy="548640"/>
          </a:xfrm>
          <a:prstGeom prst="rect">
            <a:avLst/>
          </a:prstGeom>
          <a:solidFill>
            <a:srgbClr val="0D3D5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57200" y="4507992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D8EF"/>
                </a:solidFill>
              </a:rPr>
              <a:t>REQUEST PIPELINE  →  Morgan → CORS → JSON Parser → Router /api → verifyToken → Role Guard → Controller → errorHandler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EF"/>
                </a:solidFill>
              </a:rPr>
              <a:t>4 MongoDB collections — ObjectId references shown as arrows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011680" cy="4114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004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2011680" cy="2377440"/>
          </a:xfrm>
          <a:prstGeom prst="rect">
            <a:avLst/>
          </a:prstGeom>
          <a:solidFill>
            <a:srgbClr val="0D3D57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18288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_id</a:t>
            </a:r>
            <a:endParaRPr lang="en-US" sz="1050" dirty="0"/>
          </a:p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name, email (unique)</a:t>
            </a:r>
            <a:endParaRPr lang="en-US" sz="1050" dirty="0"/>
          </a:p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password (hashed)</a:t>
            </a:r>
            <a:endParaRPr lang="en-US" sz="1050" dirty="0"/>
          </a:p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role[]</a:t>
            </a:r>
            <a:endParaRPr lang="en-US" sz="1050" dirty="0"/>
          </a:p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companyId →</a:t>
            </a:r>
            <a:endParaRPr lang="en-US" sz="1050" dirty="0"/>
          </a:p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profile.*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68880" y="1188720"/>
            <a:ext cx="2011680" cy="4114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6888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companies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1600200"/>
            <a:ext cx="2011680" cy="2377440"/>
          </a:xfrm>
          <a:prstGeom prst="rect">
            <a:avLst/>
          </a:prstGeom>
          <a:solidFill>
            <a:srgbClr val="0D3D5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60320" y="1664208"/>
            <a:ext cx="18288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_id</a:t>
            </a:r>
            <a:endParaRPr lang="en-US" sz="1050" dirty="0"/>
          </a:p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name, description</a:t>
            </a:r>
            <a:endParaRPr lang="en-US" sz="1050" dirty="0"/>
          </a:p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industry, website</a:t>
            </a:r>
            <a:endParaRPr lang="en-US" sz="1050" dirty="0"/>
          </a:p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registeredBy →</a:t>
            </a:r>
            <a:endParaRPr lang="en-US" sz="1050" dirty="0"/>
          </a:p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isApproved</a:t>
            </a:r>
            <a:endParaRPr lang="en-US" sz="1050" dirty="0"/>
          </a:p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(default: false)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188720"/>
            <a:ext cx="2011680" cy="41148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61772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jobs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1600200"/>
            <a:ext cx="2011680" cy="2377440"/>
          </a:xfrm>
          <a:prstGeom prst="rect">
            <a:avLst/>
          </a:prstGeom>
          <a:solidFill>
            <a:srgbClr val="0D3D57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09160" y="1664208"/>
            <a:ext cx="18288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_id</a:t>
            </a:r>
            <a:endParaRPr lang="en-US" sz="1050" dirty="0"/>
          </a:p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title, description</a:t>
            </a:r>
            <a:endParaRPr lang="en-US" sz="1050" dirty="0"/>
          </a:p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company →</a:t>
            </a:r>
            <a:endParaRPr lang="en-US" sz="1050" dirty="0"/>
          </a:p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type, skills[]</a:t>
            </a:r>
            <a:endParaRPr lang="en-US" sz="1050" dirty="0"/>
          </a:p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openings, deadline</a:t>
            </a:r>
            <a:endParaRPr lang="en-US" sz="1050" dirty="0"/>
          </a:p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isActive, postedBy →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66560" y="1188720"/>
            <a:ext cx="2011680" cy="4114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76656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applications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1600200"/>
            <a:ext cx="2011680" cy="2377440"/>
          </a:xfrm>
          <a:prstGeom prst="rect">
            <a:avLst/>
          </a:prstGeom>
          <a:solidFill>
            <a:srgbClr val="0D3D57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858000" y="1664208"/>
            <a:ext cx="1828800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_id</a:t>
            </a:r>
            <a:endParaRPr lang="en-US" sz="1050" dirty="0"/>
          </a:p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student →</a:t>
            </a:r>
            <a:endParaRPr lang="en-US" sz="1050" dirty="0"/>
          </a:p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job →</a:t>
            </a:r>
            <a:endParaRPr lang="en-US" sz="1050" dirty="0"/>
          </a:p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status</a:t>
            </a:r>
            <a:endParaRPr lang="en-US" sz="1050" dirty="0"/>
          </a:p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(Applied|Shortlisted</a:t>
            </a:r>
            <a:endParaRPr lang="en-US" sz="1050" dirty="0"/>
          </a:p>
          <a:p>
            <a:pPr marL="0" indent="0">
              <a:lnSpc>
                <a:spcPct val="14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D0EAF8"/>
                </a:solidFill>
              </a:rPr>
              <a:t>|Rejected)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94560" y="2423160"/>
            <a:ext cx="32004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148840" y="22219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</a:rPr>
              <a:t>companyId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343400" y="2148840"/>
            <a:ext cx="32004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297680" y="19476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</a:rPr>
              <a:t>registeredBy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92240" y="2286000"/>
            <a:ext cx="320040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46520" y="20848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2C39A"/>
                </a:solidFill>
              </a:rPr>
              <a:t>company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0040" y="4160520"/>
            <a:ext cx="8503920" cy="777240"/>
          </a:xfrm>
          <a:prstGeom prst="rect">
            <a:avLst/>
          </a:prstGeom>
          <a:solidFill>
            <a:srgbClr val="0D3D5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57200" y="42062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Key Constraints: </a:t>
            </a:r>
            <a:r>
              <a:rPr lang="en-US" sz="1100" dirty="0">
                <a:solidFill>
                  <a:srgbClr val="A8D8EF"/>
                </a:solidFill>
              </a:rPr>
              <a:t>email unique + indexed  ·  password never in API response  ·  isApproved defaults false  ·  </a:t>
            </a:r>
            <a:r>
              <a:rPr lang="en-US" sz="1100" b="1" dirty="0">
                <a:solidFill>
                  <a:srgbClr val="02C39A"/>
                </a:solidFill>
              </a:rPr>
              <a:t>compound unique index on (student + job)</a:t>
            </a:r>
            <a:r>
              <a:rPr lang="en-US" sz="1100" dirty="0">
                <a:solidFill>
                  <a:srgbClr val="A8D8EF"/>
                </a:solidFill>
              </a:rPr>
              <a:t> prevents duplicate applications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— Level 0 &amp; Level 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8229600" cy="274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7FA5"/>
                </a:solidFill>
              </a:rPr>
              <a:t>LEVEL 0 —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1887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STUDENT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606040"/>
            <a:ext cx="1188720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RECRUITER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840480"/>
            <a:ext cx="1188720" cy="502920"/>
          </a:xfrm>
          <a:prstGeom prst="rect">
            <a:avLst/>
          </a:prstGeom>
          <a:solidFill>
            <a:srgbClr val="A29BFE"/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83080" y="219456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FFD93D"/>
          </a:solidFill>
          <a:ln w="1905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783080" y="219456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D2137"/>
                </a:solidFill>
              </a:rPr>
              <a:t>CAMPUS-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D2137"/>
                </a:solidFill>
              </a:rPr>
              <a:t>HIRE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D2137"/>
                </a:solidFill>
              </a:rPr>
              <a:t>SYSTEM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554480" y="1618488"/>
            <a:ext cx="228600" cy="80467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554480" y="145389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7FA5"/>
                </a:solidFill>
              </a:rPr>
              <a:t>profile/resume/apply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554480" y="2852928"/>
            <a:ext cx="22860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554480" y="268833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7FA5"/>
                </a:solidFill>
              </a:rPr>
              <a:t>jobs/shortlist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554480" y="4096512"/>
            <a:ext cx="228600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597993" y="38862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7FA5"/>
                </a:solidFill>
              </a:rPr>
              <a:t>approve/queries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84048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7FA5"/>
                </a:solidFill>
              </a:rPr>
              <a:t>LEVEL 1 — Sub-Processes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0" y="1325880"/>
            <a:ext cx="2194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840480" y="1325880"/>
            <a:ext cx="411480" cy="804672"/>
          </a:xfrm>
          <a:prstGeom prst="rect">
            <a:avLst/>
          </a:prstGeom>
          <a:solidFill>
            <a:srgbClr val="FFD9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840480" y="132588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15968" y="13990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Authenticate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15968" y="1764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FA5"/>
                </a:solidFill>
              </a:rPr>
              <a:t>D1: users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1325880"/>
            <a:ext cx="2194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63640" y="1325880"/>
            <a:ext cx="411480" cy="80467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263640" y="132588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39128" y="13990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Student Profile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39128" y="17647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FA5"/>
                </a:solidFill>
              </a:rPr>
              <a:t>D1: users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40480" y="2350008"/>
            <a:ext cx="2194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840480" y="2350008"/>
            <a:ext cx="411480" cy="804672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840480" y="2350008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315968" y="24231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Company Approval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15968" y="2788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FA5"/>
                </a:solidFill>
              </a:rPr>
              <a:t>D2: companies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2350008"/>
            <a:ext cx="2194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74B9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263640" y="2350008"/>
            <a:ext cx="411480" cy="804672"/>
          </a:xfrm>
          <a:prstGeom prst="rect">
            <a:avLst/>
          </a:prstGeom>
          <a:solidFill>
            <a:srgbClr val="74B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263640" y="2350008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39128" y="24231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Job Management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39128" y="2788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FA5"/>
                </a:solidFill>
              </a:rPr>
              <a:t>D3: jobs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40480" y="3374136"/>
            <a:ext cx="2194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3840480" y="3374136"/>
            <a:ext cx="411480" cy="804672"/>
          </a:xfrm>
          <a:prstGeom prst="rect">
            <a:avLst/>
          </a:prstGeom>
          <a:solidFill>
            <a:srgbClr val="A29B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840480" y="3374136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P5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315968" y="34472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Applications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315968" y="3813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FA5"/>
                </a:solidFill>
              </a:rPr>
              <a:t>D4: applications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63640" y="3374136"/>
            <a:ext cx="2194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263640" y="3374136"/>
            <a:ext cx="411480" cy="80467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263640" y="3374136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P6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739128" y="34472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Reports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739128" y="3813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7FA5"/>
                </a:solidFill>
              </a:rPr>
              <a:t>D1–D4 read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REST API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59536"/>
            <a:ext cx="8229600" cy="2743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12471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1033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JWT Authentication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2893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FA5"/>
                </a:solidFill>
              </a:rPr>
              <a:t>bcryptjs hashing · 7-day token · verifyToken on every route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4650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16550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RBAC Enforcement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9110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FA5"/>
                </a:solidFill>
              </a:rPr>
              <a:t>3 roles · 403 on wrong-role · ProtectedRoute on frontend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682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5800" y="22768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Company Approval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2532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FA5"/>
                </a:solidFill>
              </a:rPr>
              <a:t>isApproved workflow · recruiter blocked until admin approves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900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5800" y="2898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Job Management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FA5"/>
                </a:solidFill>
              </a:rPr>
              <a:t>Post · browse · filter by type/company · deadline tracking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580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Application Flow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7764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FA5"/>
                </a:solidFill>
              </a:rPr>
              <a:t>Apply once · duplicate check → 400 · track status live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3367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5800" y="4142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</a:rPr>
              <a:t>Resume Upload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4398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7FA5"/>
                </a:solidFill>
              </a:rPr>
              <a:t>Multer PDF upload · stored /uploads · 5 MB limit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1005840"/>
            <a:ext cx="4160520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0" y="10058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REST API ENDPOINTS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1417320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A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72000" y="1481328"/>
            <a:ext cx="530352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0" y="148132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166360" y="14173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/api/auth/register|login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35240" y="14173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7FA5"/>
                </a:solidFill>
              </a:rPr>
              <a:t>Public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0" y="1764792"/>
            <a:ext cx="4160520" cy="347472"/>
          </a:xfrm>
          <a:prstGeom prst="rect">
            <a:avLst/>
          </a:prstGeom>
          <a:solidFill>
            <a:srgbClr val="EBF8FF"/>
          </a:solidFill>
          <a:ln w="6350">
            <a:solidFill>
              <a:srgbClr val="D6EA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572000" y="1828800"/>
            <a:ext cx="530352" cy="219456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572000" y="182880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166360" y="17647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/api/student/jobs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35240" y="17647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7FA5"/>
                </a:solidFill>
              </a:rPr>
              <a:t>Student JWT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0" y="2112264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A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572000" y="2176272"/>
            <a:ext cx="530352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572000" y="217627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166360" y="21122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/api/student/apply/:id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635240" y="21122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7FA5"/>
                </a:solidFill>
              </a:rPr>
              <a:t>Student JWT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0" y="2459736"/>
            <a:ext cx="4160520" cy="347472"/>
          </a:xfrm>
          <a:prstGeom prst="rect">
            <a:avLst/>
          </a:prstGeom>
          <a:solidFill>
            <a:srgbClr val="EBF8FF"/>
          </a:solidFill>
          <a:ln w="6350">
            <a:solidFill>
              <a:srgbClr val="D6EA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572000" y="2523744"/>
            <a:ext cx="530352" cy="219456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572000" y="252374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166360" y="24597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/api/student/applications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635240" y="24597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7FA5"/>
                </a:solidFill>
              </a:rPr>
              <a:t>Student JWT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2807208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A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572000" y="2871216"/>
            <a:ext cx="530352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572000" y="287121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166360" y="28072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/api/recruiter/company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635240" y="28072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7FA5"/>
                </a:solidFill>
              </a:rPr>
              <a:t>Recruiter JWT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572000" y="3154680"/>
            <a:ext cx="4160520" cy="347472"/>
          </a:xfrm>
          <a:prstGeom prst="rect">
            <a:avLst/>
          </a:prstGeom>
          <a:solidFill>
            <a:srgbClr val="EBF8FF"/>
          </a:solidFill>
          <a:ln w="6350">
            <a:solidFill>
              <a:srgbClr val="D6EA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572000" y="3218688"/>
            <a:ext cx="530352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572000" y="3218688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POST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166360" y="31546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/api/recruiter/jobs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635240" y="31546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7FA5"/>
                </a:solidFill>
              </a:rPr>
              <a:t>Recruiter JWT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0" y="3502152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A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572000" y="3566160"/>
            <a:ext cx="530352" cy="219456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572000" y="3566160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166360" y="35021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/api/recruiter/jobs/:id/applicants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635240" y="35021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7FA5"/>
                </a:solidFill>
              </a:rPr>
              <a:t>Recruiter JWT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572000" y="3849624"/>
            <a:ext cx="4160520" cy="347472"/>
          </a:xfrm>
          <a:prstGeom prst="rect">
            <a:avLst/>
          </a:prstGeom>
          <a:solidFill>
            <a:srgbClr val="EBF8FF"/>
          </a:solidFill>
          <a:ln w="6350">
            <a:solidFill>
              <a:srgbClr val="D6EA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4572000" y="3913632"/>
            <a:ext cx="530352" cy="219456"/>
          </a:xfrm>
          <a:prstGeom prst="rect">
            <a:avLst/>
          </a:prstGeom>
          <a:solidFill>
            <a:srgbClr val="E8A83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572000" y="3913632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PATCH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5166360" y="38496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/api/recruiter/applications/:id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635240" y="384962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7FA5"/>
                </a:solidFill>
              </a:rPr>
              <a:t>Recruiter JWT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572000" y="4197096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6EA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4572000" y="4261104"/>
            <a:ext cx="530352" cy="219456"/>
          </a:xfrm>
          <a:prstGeom prst="rect">
            <a:avLst/>
          </a:prstGeom>
          <a:solidFill>
            <a:srgbClr val="E8A838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572000" y="4261104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PATCH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166360" y="41970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/api/admin/companies/:id/approve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635240" y="419709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7FA5"/>
                </a:solidFill>
              </a:rPr>
              <a:t>Admin JWT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572000" y="4544568"/>
            <a:ext cx="4160520" cy="347472"/>
          </a:xfrm>
          <a:prstGeom prst="rect">
            <a:avLst/>
          </a:prstGeom>
          <a:solidFill>
            <a:srgbClr val="EBF8FF"/>
          </a:solidFill>
          <a:ln w="6350">
            <a:solidFill>
              <a:srgbClr val="D6EA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4572000" y="4608576"/>
            <a:ext cx="530352" cy="219456"/>
          </a:xfrm>
          <a:prstGeom prst="rect">
            <a:avLst/>
          </a:prstGeom>
          <a:solidFill>
            <a:srgbClr val="1C7293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4572000" y="4608576"/>
            <a:ext cx="530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GET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5166360" y="45445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2137"/>
                </a:solidFill>
              </a:rPr>
              <a:t>/api/admin/stats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635240" y="45445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7FA5"/>
                </a:solidFill>
              </a:rPr>
              <a:t>Admin JWT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D8EF"/>
                </a:solidFill>
              </a:rPr>
              <a:t>Every technology chosen to minimise complexity for a 4-week build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65960" cy="3657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FRONTEND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38912" y="166420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38912" y="166420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AF8"/>
                </a:solidFill>
              </a:rPr>
              <a:t>React 18 + Vite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" y="221284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38912" y="221284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AF8"/>
                </a:solidFill>
              </a:rPr>
              <a:t>React Router v7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276148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38912" y="276148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AF8"/>
                </a:solidFill>
              </a:rPr>
              <a:t>Tailwind CSS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" y="331012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38912" y="331012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AF8"/>
                </a:solidFill>
              </a:rPr>
              <a:t>Axios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" y="385876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38912" y="385876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AF8"/>
                </a:solidFill>
              </a:rPr>
              <a:t>Recharts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14600" y="1188720"/>
            <a:ext cx="196596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514600" y="1188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87752" y="166420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587752" y="166420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AF8"/>
                </a:solidFill>
              </a:rPr>
              <a:t>Node.js 18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87752" y="221284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587752" y="221284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AF8"/>
                </a:solidFill>
              </a:rPr>
              <a:t>Express.js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87752" y="276148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587752" y="276148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AF8"/>
                </a:solidFill>
              </a:rPr>
              <a:t>Mongoose 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87752" y="331012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587752" y="331012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AF8"/>
                </a:solidFill>
              </a:rPr>
              <a:t>bcryptjs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87752" y="385876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587752" y="385876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AF8"/>
                </a:solidFill>
              </a:rPr>
              <a:t>jsonwebtoken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1188720"/>
            <a:ext cx="1965960" cy="36576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663440" y="1188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INFRA &amp; TOOLS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36592" y="166420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36592" y="166420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AF8"/>
                </a:solidFill>
              </a:rPr>
              <a:t>MongoDB Atlas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36592" y="221284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736592" y="221284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AF8"/>
                </a:solidFill>
              </a:rPr>
              <a:t>Render (PaaS)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36592" y="276148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36592" y="276148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AF8"/>
                </a:solidFill>
              </a:rPr>
              <a:t>Multer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36592" y="331012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736592" y="331012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AF8"/>
                </a:solidFill>
              </a:rPr>
              <a:t>Morgan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36592" y="385876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736592" y="385876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AF8"/>
                </a:solidFill>
              </a:rPr>
              <a:t>dotenv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812280" y="1188720"/>
            <a:ext cx="1965960" cy="365760"/>
          </a:xfrm>
          <a:prstGeom prst="rect">
            <a:avLst/>
          </a:prstGeom>
          <a:solidFill>
            <a:srgbClr val="A29B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812280" y="11887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DEV TOOLS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85432" y="166420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885432" y="166420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AF8"/>
                </a:solidFill>
              </a:rPr>
              <a:t>Postman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85432" y="221284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885432" y="221284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AF8"/>
                </a:solidFill>
              </a:rPr>
              <a:t>Git + GitHub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885432" y="276148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885432" y="276148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AF8"/>
                </a:solidFill>
              </a:rPr>
              <a:t>Vite HMR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85432" y="331012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885432" y="331012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AF8"/>
                </a:solidFill>
              </a:rPr>
              <a:t>seed.js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85432" y="3858768"/>
            <a:ext cx="1819656" cy="438912"/>
          </a:xfrm>
          <a:prstGeom prst="rect">
            <a:avLst/>
          </a:prstGeom>
          <a:solidFill>
            <a:srgbClr val="0D3D57"/>
          </a:solidFill>
          <a:ln w="1270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885432" y="3858768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0EAF8"/>
                </a:solidFill>
              </a:rPr>
              <a:t>npm workspaces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0D3D57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457200" y="45902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Why MERN?  </a:t>
            </a:r>
            <a:r>
              <a:rPr lang="en-US" sz="1100" dirty="0">
                <a:solidFill>
                  <a:srgbClr val="A8D8EF"/>
                </a:solidFill>
              </a:rPr>
              <a:t>Single language (JS) end-to-end · Atlas free tier · Render free hosting · Vite fast dev server · No SQL migrations needed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 &amp; Deployment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023360" cy="3840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TEST STRATEGY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530352"/>
          </a:xfrm>
          <a:prstGeom prst="rect">
            <a:avLst/>
          </a:prstGeom>
          <a:solidFill>
            <a:srgbClr val="0D3D57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54864" cy="34747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Unit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AF8"/>
                </a:solidFill>
              </a:rPr>
              <a:t>Postman — each controller individually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37560" y="1508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A7FA5"/>
                </a:solidFill>
              </a:rPr>
              <a:t>Week 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4023360" cy="530352"/>
          </a:xfrm>
          <a:prstGeom prst="rect">
            <a:avLst/>
          </a:prstGeom>
          <a:solidFill>
            <a:srgbClr val="103050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2057400"/>
            <a:ext cx="54864" cy="34747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2011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Integration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2402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AF8"/>
                </a:solidFill>
              </a:rPr>
              <a:t>Chain: register → login → apply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37560" y="21031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A7FA5"/>
                </a:solidFill>
              </a:rPr>
              <a:t>Week 2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4023360" cy="530352"/>
          </a:xfrm>
          <a:prstGeom prst="rect">
            <a:avLst/>
          </a:prstGeom>
          <a:solidFill>
            <a:srgbClr val="0D3D57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54864" cy="34747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" y="26060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System E2E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28346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AF8"/>
                </a:solidFill>
              </a:rPr>
              <a:t>Browser walkthrough all 3 dashboards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37560" y="2697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A7FA5"/>
                </a:solidFill>
              </a:rPr>
              <a:t>Week 4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4023360" cy="530352"/>
          </a:xfrm>
          <a:prstGeom prst="rect">
            <a:avLst/>
          </a:prstGeom>
          <a:solidFill>
            <a:srgbClr val="103050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3246120"/>
            <a:ext cx="54864" cy="34747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" y="3200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Security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4290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AF8"/>
                </a:solidFill>
              </a:rPr>
              <a:t>JWT bypass · wrong-role · no password leak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37560" y="3291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A7FA5"/>
                </a:solidFill>
              </a:rPr>
              <a:t>Week 4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4023360" cy="530352"/>
          </a:xfrm>
          <a:prstGeom prst="rect">
            <a:avLst/>
          </a:prstGeom>
          <a:solidFill>
            <a:srgbClr val="0D3D57"/>
          </a:solidFill>
          <a:ln w="63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65760" y="3840480"/>
            <a:ext cx="54864" cy="34747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" y="3794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Smoke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023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AF8"/>
                </a:solidFill>
              </a:rPr>
              <a:t>Live Render URLs before demo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37560" y="3886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A7FA5"/>
                </a:solidFill>
              </a:rPr>
              <a:t>Deploy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868680"/>
            <a:ext cx="4023360" cy="384048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54880" y="868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DEPLOYMENT ARCHITECTURE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1371600"/>
            <a:ext cx="4023360" cy="530352"/>
          </a:xfrm>
          <a:prstGeom prst="rect">
            <a:avLst/>
          </a:prstGeom>
          <a:solidFill>
            <a:srgbClr val="0D3D57"/>
          </a:solidFill>
          <a:ln w="635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828032" y="1527048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120640" y="14173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Backend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0640" y="1645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AF8"/>
                </a:solidFill>
              </a:rPr>
              <a:t>Render Web Service · Node.js 18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1965960"/>
            <a:ext cx="4023360" cy="530352"/>
          </a:xfrm>
          <a:prstGeom prst="rect">
            <a:avLst/>
          </a:prstGeom>
          <a:solidFill>
            <a:srgbClr val="103050"/>
          </a:solidFill>
          <a:ln w="635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828032" y="2121408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120640" y="20116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7293"/>
                </a:solidFill>
              </a:rPr>
              <a:t>Frontend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20640" y="22402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AF8"/>
                </a:solidFill>
              </a:rPr>
              <a:t>Render Static Site · Vite /dist build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2560320"/>
            <a:ext cx="4023360" cy="530352"/>
          </a:xfrm>
          <a:prstGeom prst="rect">
            <a:avLst/>
          </a:prstGeom>
          <a:solidFill>
            <a:srgbClr val="0D3D57"/>
          </a:solidFill>
          <a:ln w="635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828032" y="2715768"/>
            <a:ext cx="219456" cy="219456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120640" y="2606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838"/>
                </a:solidFill>
              </a:rPr>
              <a:t>Database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20640" y="283464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AF8"/>
                </a:solidFill>
              </a:rPr>
              <a:t>MongoDB Atlas M0 · AWS ap-south-1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54880" y="3154680"/>
            <a:ext cx="4023360" cy="530352"/>
          </a:xfrm>
          <a:prstGeom prst="rect">
            <a:avLst/>
          </a:prstGeom>
          <a:solidFill>
            <a:srgbClr val="103050"/>
          </a:solidFill>
          <a:ln w="635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4828032" y="3310128"/>
            <a:ext cx="219456" cy="219456"/>
          </a:xfrm>
          <a:prstGeom prst="ellipse">
            <a:avLst/>
          </a:prstGeom>
          <a:solidFill>
            <a:srgbClr val="A29B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5120640" y="32004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29BFE"/>
                </a:solidFill>
              </a:rPr>
              <a:t>Auth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120640" y="34290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AF8"/>
                </a:solidFill>
              </a:rPr>
              <a:t>JWT HS256 · 7-day expiry · Bearer header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3749040"/>
            <a:ext cx="4023360" cy="530352"/>
          </a:xfrm>
          <a:prstGeom prst="rect">
            <a:avLst/>
          </a:prstGeom>
          <a:solidFill>
            <a:srgbClr val="0D3D57"/>
          </a:solidFill>
          <a:ln w="635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828032" y="3904488"/>
            <a:ext cx="219456" cy="219456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5120640" y="3794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</a:rPr>
              <a:t>Secrets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20640" y="40233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EAF8"/>
                </a:solidFill>
              </a:rPr>
              <a:t>All in Render env vars — never hard-coded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64008" cy="508863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1325880"/>
          </a:xfrm>
          <a:prstGeom prst="rect">
            <a:avLst/>
          </a:prstGeom>
          <a:solidFill>
            <a:srgbClr val="0D3D57"/>
          </a:solidFill>
          <a:ln w="190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65176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2C39A"/>
                </a:solidFill>
              </a:rPr>
              <a:t>MERN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1618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7FA5"/>
                </a:solidFill>
              </a:rPr>
              <a:t>MongoDB · Express · React · Node.js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51760" cy="1325880"/>
          </a:xfrm>
          <a:prstGeom prst="rect">
            <a:avLst/>
          </a:prstGeom>
          <a:solidFill>
            <a:srgbClr val="0D3D57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65176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C7293"/>
                </a:solidFill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00400" y="1618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7FA5"/>
                </a:solidFill>
              </a:rPr>
              <a:t>Student · Recruiter · Admin (TPO)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0760" y="960120"/>
            <a:ext cx="2651760" cy="1325880"/>
          </a:xfrm>
          <a:prstGeom prst="rect">
            <a:avLst/>
          </a:prstGeom>
          <a:solidFill>
            <a:srgbClr val="0D3D57"/>
          </a:solidFill>
          <a:ln w="1905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80760" y="960120"/>
            <a:ext cx="2651760" cy="73152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080760" y="1051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838"/>
                </a:solidFill>
              </a:rPr>
              <a:t>16+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080760" y="16184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Routes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7FA5"/>
                </a:solidFill>
              </a:rPr>
              <a:t>REST endpoints across 4 controllers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468880"/>
            <a:ext cx="2651760" cy="1325880"/>
          </a:xfrm>
          <a:prstGeom prst="rect">
            <a:avLst/>
          </a:prstGeom>
          <a:solidFill>
            <a:srgbClr val="0D3D57"/>
          </a:solidFill>
          <a:ln w="19050">
            <a:solidFill>
              <a:srgbClr val="A29BF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0040" y="2468880"/>
            <a:ext cx="2651760" cy="73152"/>
          </a:xfrm>
          <a:prstGeom prst="rect">
            <a:avLst/>
          </a:prstGeom>
          <a:solidFill>
            <a:srgbClr val="A29BF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" y="25603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29BFE"/>
                </a:solidFill>
              </a:rPr>
              <a:t>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20040" y="3127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DB Collections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" y="3383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7FA5"/>
                </a:solidFill>
              </a:rPr>
              <a:t>users · companies · jobs · applications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2468880"/>
            <a:ext cx="2651760" cy="1325880"/>
          </a:xfrm>
          <a:prstGeom prst="rect">
            <a:avLst/>
          </a:prstGeom>
          <a:solidFill>
            <a:srgbClr val="0D3D57"/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00400" y="2468880"/>
            <a:ext cx="2651760" cy="7315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00400" y="25603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6B6B"/>
                </a:solidFill>
              </a:rPr>
              <a:t>JWT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3200400" y="3127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Auth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0" y="3383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7FA5"/>
                </a:solidFill>
              </a:rPr>
              <a:t>bcryptjs · HS256 · 7-day expiry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80760" y="2468880"/>
            <a:ext cx="2651760" cy="1325880"/>
          </a:xfrm>
          <a:prstGeom prst="rect">
            <a:avLst/>
          </a:prstGeom>
          <a:solidFill>
            <a:srgbClr val="0D3D57"/>
          </a:solidFill>
          <a:ln w="19050">
            <a:solidFill>
              <a:srgbClr val="74B9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080760" y="2468880"/>
            <a:ext cx="2651760" cy="73152"/>
          </a:xfrm>
          <a:prstGeom prst="rect">
            <a:avLst/>
          </a:prstGeom>
          <a:solidFill>
            <a:srgbClr val="74B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080760" y="25603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4B9FF"/>
                </a:solidFill>
              </a:rPr>
              <a:t>Render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6080760" y="31272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Hosting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80760" y="3383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7FA5"/>
                </a:solidFill>
              </a:rPr>
              <a:t>Static Site + Web Service + Atlas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4160520"/>
            <a:ext cx="8503920" cy="658368"/>
          </a:xfrm>
          <a:prstGeom prst="rect">
            <a:avLst/>
          </a:prstGeom>
          <a:solidFill>
            <a:srgbClr val="0D3D57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57200" y="4187952"/>
            <a:ext cx="8321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Out of Scope (v1): </a:t>
            </a:r>
            <a:r>
              <a:rPr lang="en-US" sz="1100" dirty="0">
                <a:solidFill>
                  <a:srgbClr val="A8D8EF"/>
                </a:solidFill>
              </a:rPr>
              <a:t>Email notifications · Mobile app · OAuth/SSO · AI ranking · Multi-campus</a:t>
            </a:r>
            <a:r>
              <a:rPr lang="en-US" sz="1100" dirty="0">
                <a:solidFill>
                  <a:srgbClr val="4A7FA5"/>
                </a:solidFill>
              </a:rPr>
              <a:t>    |    </a:t>
            </a:r>
            <a:r>
              <a:rPr lang="en-US" sz="1100" b="1" dirty="0">
                <a:solidFill>
                  <a:srgbClr val="02C39A"/>
                </a:solidFill>
              </a:rPr>
              <a:t>v2 Planned: </a:t>
            </a:r>
            <a:r>
              <a:rPr lang="en-US" sz="1100" dirty="0">
                <a:solidFill>
                  <a:srgbClr val="A8D8EF"/>
                </a:solidFill>
              </a:rPr>
              <a:t>AWS S3 resume storage · Jest unit tests · Recruiter analytics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976</Words>
  <Application>Microsoft Office PowerPoint</Application>
  <PresentationFormat>On-screen Show (16:9)</PresentationFormat>
  <Paragraphs>265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Campus-Hire — Campus Placement Portal</dc:title>
  <dc:subject>PptxGenJS Presentation</dc:subject>
  <dc:creator>Campus-Hire</dc:creator>
  <cp:lastModifiedBy>Teja Manikanta</cp:lastModifiedBy>
  <cp:revision>2</cp:revision>
  <dcterms:created xsi:type="dcterms:W3CDTF">2026-04-22T17:34:47Z</dcterms:created>
  <dcterms:modified xsi:type="dcterms:W3CDTF">2026-04-23T03:16:31Z</dcterms:modified>
</cp:coreProperties>
</file>